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2"/>
    <p:sldId id="257" r:id="rId4"/>
    <p:sldId id="258" r:id="rId3"/>
  </p:sldIdLst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p>
            <a:r>
              <a:t>Elasticità per bene</a:t>
            </a:r>
          </a:p>
        </c:rich>
      </c:tx>
    </c:title>
    <c:plotArea>
      <c:barChart>
        <c:ser>
          <c:tx>
            <c:strRef>
              <c:strCache>
                <c:pt idx="0">
                  <c:v>Elasticità</c:v>
                </c:pt>
              </c:strCache>
            </c:strRef>
          </c:tx>
          <c:cat>
            <c:strRef>
              <c:strCache>
                <c:pt idx="1">
                  <c:v>Vacanze</c:v>
                </c:pt>
                <c:pt idx="0">
                  <c:v>Pane</c:v>
                </c:pt>
              </c:strCache>
            </c:strRef>
          </c:cat>
          <c:val>
            <c:numRef>
              <c:numCache>
                <c:pt idx="0">
                  <c:v>0.3</c:v>
                </c:pt>
                <c:pt idx="1">
                  <c:v>2.1</c:v>
                </c:pt>
              </c:numCache>
            </c:numRef>
          </c:val>
        </c:ser>
      </c:barChart>
    </c:plotArea>
  </c:chart>
</c:chartSpace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x"/>
          <p:cNvSpPr/>
          <p:nvPr>
            <p:ph type="sldImg"/>
          </p:nvPr>
        </p:nvSpPr>
        <p:spPr/>
        <p:txBody>
          <a:bodyPr/>
          <a:p>
            <a:r>
              <a:t>slide</a:t>
            </a:r>
          </a:p>
        </p:txBody>
      </p:sp>
      <p:sp>
        <p:nvSpPr>
          <p:cNvPr id="2" name="x"/>
          <p:cNvSpPr/>
          <p:nvPr>
            <p:ph type="body"/>
          </p:nvPr>
        </p:nvSpPr>
        <p:spPr/>
        <p:txBody>
          <a:bodyPr/>
          <a:p>
            <a:r>
              <a:t>Qui disegno la croce di domanda e offerta: all'esame la chiedo sempre.</a:t>
            </a:r>
          </a:p>
        </p:txBody>
      </p:sp>
      <p:sp>
        <p:nvSpPr>
          <p:cNvPr id="2" name="x"/>
          <p:cNvSpPr/>
          <p:nvPr>
            <p:ph type="sldNum"/>
          </p:nvPr>
        </p:nvSpPr>
        <p:spPr/>
        <p:txBody>
          <a:bodyPr/>
          <a:p>
            <a:r>
              <a:t>1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x"/>
          <p:cNvSpPr/>
          <p:nvPr>
            <p:ph type="title"/>
          </p:nvPr>
        </p:nvSpPr>
        <p:spPr/>
        <p:txBody>
          <a:bodyPr/>
          <a:p>
            <a:r>
              <a:t>Domanda e offerta</a:t>
            </a:r>
          </a:p>
        </p:txBody>
      </p:sp>
      <p:sp>
        <p:nvSpPr>
          <p:cNvPr id="2" name="x"/>
          <p:cNvSpPr/>
          <p:nvPr/>
        </p:nvSpPr>
        <p:spPr/>
        <p:txBody>
          <a:bodyPr/>
          <a:p>
            <a:r>
              <a:t>La domanda è decrescente nel prezzo</a:t>
            </a:r>
          </a:p>
          <a:p>
            <a:r>
              <a:t>L’offerta è crescente</a:t>
            </a:r>
          </a:p>
        </p:txBody>
      </p:sp>
      <p:pic>
        <p:nvPicPr>
          <p:cNvPr id="5" name="Immagine 4"/>
          <p:cNvPicPr/>
          <p:nvPr/>
        </p:nvPicPr>
        <p:blipFill>
          <a:blip r:embed="rId2"/>
        </p:blipFill>
        <p:spPr/>
      </p:pic>
      <p:cxnSp>
        <p:nvCxnSpPr>
          <p:cNvPr id="7" name="Connettore"/>
          <p:cNvCxnSpPr/>
          <p:nvPr/>
        </p:nvCxnSpPr>
        <p:spPr>
          <a:prstGeom prst="line"/>
        </p:spPr>
      </p:cxnSp>
      <p:cxnSp>
        <p:nvCxnSpPr>
          <p:cNvPr id="7" name="Connettore"/>
          <p:cNvCxnSpPr/>
          <p:nvPr/>
        </p:nvCxnSpPr>
        <p:spPr>
          <a:prstGeom prst="line"/>
        </p:spPr>
      </p:cxnSp>
      <p:cxnSp>
        <p:nvCxnSpPr>
          <p:cNvPr id="7" name="Connettore"/>
          <p:cNvCxnSpPr/>
          <p:nvPr/>
        </p:nvCxnSpPr>
        <p:spPr>
          <a:prstGeom prst="line"/>
        </p:spPr>
      </p:cxn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sp>
        <p:nvSpPr>
          <p:cNvPr id="2" name="x"/>
          <p:cNvSpPr/>
          <p:nvPr>
            <p:ph type="title"/>
          </p:nvPr>
        </p:nvSpPr>
        <p:spPr/>
        <p:txBody>
          <a:bodyPr/>
          <a:p>
            <a:r>
              <a:t>Monopolio</a:t>
            </a:r>
          </a:p>
        </p:txBody>
      </p:sp>
      <p:sp>
        <p:nvSpPr>
          <p:cNvPr id="2" name="x"/>
          <p:cNvSpPr/>
          <p:nvPr/>
        </p:nvSpPr>
        <p:spPr/>
        <p:txBody>
          <a:bodyPr/>
          <a:p>
            <a:r>
              <a:t>Condizione di ottimo: MR = MC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x"/>
          <p:cNvSpPr/>
          <p:nvPr>
            <p:ph type="title"/>
          </p:nvPr>
        </p:nvSpPr>
        <p:spPr/>
        <p:txBody>
          <a:bodyPr/>
          <a:p>
            <a:r>
              <a:t>Elasticità</a:t>
            </a:r>
          </a:p>
        </p:txBody>
      </p:sp>
      <p:sp>
        <p:nvSpPr>
          <p:cNvPr id="2" name="x"/>
          <p:cNvSpPr/>
          <p:nvPr/>
        </p:nvSpPr>
        <p:spPr/>
        <p:txBody>
          <a:bodyPr/>
          <a:p>
            <a:r>
              <a:t>Misura la reattività della quantità al prezzo</a:t>
            </a:r>
          </a:p>
        </p:txBody>
      </p:sp>
      <p:graphicFrame>
        <p:nvGraphicFramePr>
          <p:cNvPr id="8" name="Grafico"/>
          <p:cNvGraphicFramePr/>
          <p:nvPr/>
        </p:nvGraphicFramePr>
        <p:xfrm/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5" name="Immagine 4" descr="Curva di domanda anelastica"/>
          <p:cNvPicPr/>
          <p:nvPr/>
        </p:nvPicPr>
        <p:blipFill>
          <a:blip r:embed="rId2"/>
        </p:blipFill>
        <p:spPr/>
      </p:pic>
    </p:spTree>
  </p:cSld>
</p:sld>
</file>